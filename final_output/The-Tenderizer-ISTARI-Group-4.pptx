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4-12.svg" ContentType="image/svg+xml"/>
  <Override PartName="/ppt/media/image-4-3.svg" ContentType="image/svg+xml"/>
  <Override PartName="/ppt/media/image-4-6.svg" ContentType="image/svg+xml"/>
  <Override PartName="/ppt/media/image-4-9.svg" ContentType="image/svg+xml"/>
  <Override PartName="/ppt/media/image-7-2.svg" ContentType="image/svg+xml"/>
  <Override PartName="/ppt/media/image-7-4.svg" ContentType="image/svg+xml"/>
  <Override PartName="/ppt/media/image-7-6.svg" ContentType="image/svg+xml"/>
  <Override PartName="/ppt/media/image-7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oppins Light"/>
      <p:regular r:id="rId15"/>
    </p:embeddedFont>
    <p:embeddedFont>
      <p:font typeface="Poppins Light"/>
      <p:regular r:id="rId16"/>
    </p:embeddedFon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Roboto Light"/>
      <p:regular r:id="rId19"/>
    </p:embeddedFont>
    <p:embeddedFont>
      <p:font typeface="Roboto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26913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Tenderizer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245293"/>
            <a:ext cx="72611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Pounding tough tenders into easily digestible drafts.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93978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5455"/>
            <a:ext cx="5805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Problem Statement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978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Who they are, what they struggle with.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15916"/>
            <a:ext cx="4196358" cy="2978110"/>
          </a:xfrm>
          <a:prstGeom prst="roundRect">
            <a:avLst>
              <a:gd name="adj" fmla="val 3199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7732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Profile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4263628"/>
            <a:ext cx="3681770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50–250 employees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€5M–€50M revenue firms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Infra / Env / Gov / Consulting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515916"/>
            <a:ext cx="4196358" cy="2978110"/>
          </a:xfrm>
          <a:prstGeom prst="roundRect">
            <a:avLst>
              <a:gd name="adj" fmla="val 3199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74256" y="37732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Reality Today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74256" y="4263628"/>
            <a:ext cx="3681770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~40% -60% of time lost in drafting 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Endless rewriting &amp; formatting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Lack data-driven bid qualifications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515916"/>
            <a:ext cx="4196358" cy="2978110"/>
          </a:xfrm>
          <a:prstGeom prst="roundRect">
            <a:avLst>
              <a:gd name="adj" fmla="val 3199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97427" y="37732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Team Overload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97427" y="4263628"/>
            <a:ext cx="3681770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Missed requirements under deadline pressure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Burnout from constant bid stress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Limited insight into bid success likelihood 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5346"/>
            <a:ext cx="60745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Agentic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6648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Generation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529364"/>
            <a:ext cx="13042821" cy="3048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5" name="Shape 3"/>
          <p:cNvSpPr/>
          <p:nvPr/>
        </p:nvSpPr>
        <p:spPr>
          <a:xfrm>
            <a:off x="1747242" y="2529364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6" name="Shape 4"/>
          <p:cNvSpPr/>
          <p:nvPr/>
        </p:nvSpPr>
        <p:spPr>
          <a:xfrm>
            <a:off x="1677472" y="2444353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1020604" y="3209925"/>
            <a:ext cx="14838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Upload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68353" y="2529364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9" name="Shape 7"/>
          <p:cNvSpPr/>
          <p:nvPr/>
        </p:nvSpPr>
        <p:spPr>
          <a:xfrm>
            <a:off x="3898583" y="2444353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F2F2F3"/>
          </a:solidFill>
          <a:ln/>
        </p:spPr>
      </p:sp>
      <p:sp>
        <p:nvSpPr>
          <p:cNvPr id="10" name="Text 8"/>
          <p:cNvSpPr/>
          <p:nvPr/>
        </p:nvSpPr>
        <p:spPr>
          <a:xfrm>
            <a:off x="3241596" y="3209925"/>
            <a:ext cx="14839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Analyze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89345" y="2529364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12" name="Shape 10"/>
          <p:cNvSpPr/>
          <p:nvPr/>
        </p:nvSpPr>
        <p:spPr>
          <a:xfrm>
            <a:off x="6119574" y="2444353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F2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5462707" y="3209925"/>
            <a:ext cx="14838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Retrieve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410456" y="2529364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0685" y="2444353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F2F2F3"/>
          </a:solidFill>
          <a:ln/>
        </p:spPr>
      </p:sp>
      <p:sp>
        <p:nvSpPr>
          <p:cNvPr id="16" name="Text 14"/>
          <p:cNvSpPr/>
          <p:nvPr/>
        </p:nvSpPr>
        <p:spPr>
          <a:xfrm>
            <a:off x="7683698" y="3209925"/>
            <a:ext cx="14839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Generate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631448" y="2529364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677" y="2444353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F2F2F3"/>
          </a:solidFill>
          <a:ln/>
        </p:spPr>
      </p:sp>
      <p:sp>
        <p:nvSpPr>
          <p:cNvPr id="19" name="Text 17"/>
          <p:cNvSpPr/>
          <p:nvPr/>
        </p:nvSpPr>
        <p:spPr>
          <a:xfrm>
            <a:off x="9904809" y="3209925"/>
            <a:ext cx="14838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Process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2852559" y="2529364"/>
            <a:ext cx="30480" cy="453628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21" name="Shape 19"/>
          <p:cNvSpPr/>
          <p:nvPr/>
        </p:nvSpPr>
        <p:spPr>
          <a:xfrm>
            <a:off x="12782788" y="2444353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F2F2F3"/>
          </a:solidFill>
          <a:ln/>
        </p:spPr>
      </p:sp>
      <p:sp>
        <p:nvSpPr>
          <p:cNvPr id="22" name="Text 20"/>
          <p:cNvSpPr/>
          <p:nvPr/>
        </p:nvSpPr>
        <p:spPr>
          <a:xfrm>
            <a:off x="12125801" y="3209925"/>
            <a:ext cx="1483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View &amp; Edit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3790" y="42587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Supporting Systems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93790" y="4953238"/>
            <a:ext cx="4196358" cy="2410897"/>
          </a:xfrm>
          <a:prstGeom prst="roundRect">
            <a:avLst>
              <a:gd name="adj" fmla="val 2258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74351" y="5187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Knowledge Base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28224" y="567809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Central repository of past bids, templates, and reference content that grounds every response in trusted project knowledge.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5216962" y="4953238"/>
            <a:ext cx="4196358" cy="2410897"/>
          </a:xfrm>
          <a:prstGeom prst="roundRect">
            <a:avLst>
              <a:gd name="adj" fmla="val 2258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523" y="5187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 Engine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51396" y="567809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Core orchestration and generation layer that interprets inputs, drafts content, and refines outputs for bid workflows.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9640133" y="4953238"/>
            <a:ext cx="4196358" cy="2410897"/>
          </a:xfrm>
          <a:prstGeom prst="roundRect">
            <a:avLst>
              <a:gd name="adj" fmla="val 2258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20695" y="5187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Interactive Layer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874568" y="5678091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User-facing workspace for reviewing, editing, and approving generated content before delivery.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62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Business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575792"/>
            <a:ext cx="58737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From Document Work → Strategic Bidding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57256" y="32379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Speedy Submission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270284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5633" y="3253145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3060740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Reduced Operational Overhead</a:t>
            </a:r>
            <a:endParaRPr lang="en-US" sz="2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270284"/>
            <a:ext cx="4564975" cy="4564975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5201" y="3253145"/>
            <a:ext cx="339328" cy="33932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937790" y="56904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Higher Win Rate</a:t>
            </a:r>
            <a:endParaRPr lang="en-US" sz="2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270284"/>
            <a:ext cx="4564975" cy="4564975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5201" y="5512713"/>
            <a:ext cx="339328" cy="33932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55194" y="5690473"/>
            <a:ext cx="31372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Increased Bid Volume </a:t>
            </a:r>
            <a:endParaRPr lang="en-US" sz="22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270284"/>
            <a:ext cx="4564975" cy="4564975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15633" y="5512713"/>
            <a:ext cx="339328" cy="339328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793790" y="70904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"We turn bid managers into decision-makers, not document editors."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922" y="644843"/>
            <a:ext cx="10560368" cy="63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Financial Model: Time → Revenue Unlock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1473279" y="1643301"/>
            <a:ext cx="428506" cy="134541"/>
          </a:xfrm>
          <a:prstGeom prst="roundRect">
            <a:avLst>
              <a:gd name="adj" fmla="val 7612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452" y="1674019"/>
            <a:ext cx="73104" cy="731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4845" y="1663065"/>
            <a:ext cx="242768" cy="95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Manual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1962745" y="1643301"/>
            <a:ext cx="564475" cy="134541"/>
          </a:xfrm>
          <a:prstGeom prst="roundRect">
            <a:avLst>
              <a:gd name="adj" fmla="val 7612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918" y="1674019"/>
            <a:ext cx="73104" cy="731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4311" y="1663065"/>
            <a:ext cx="378738" cy="95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AI-Assisted</a:t>
            </a:r>
            <a:endParaRPr lang="en-US" sz="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79" y="1838801"/>
            <a:ext cx="11683841" cy="33289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26068" y="3566315"/>
            <a:ext cx="121920" cy="127992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40</a:t>
            </a:r>
            <a:endParaRPr lang="en-US" sz="500" dirty="0"/>
          </a:p>
        </p:txBody>
      </p:sp>
      <p:sp>
        <p:nvSpPr>
          <p:cNvPr id="11" name="Text 6"/>
          <p:cNvSpPr/>
          <p:nvPr/>
        </p:nvSpPr>
        <p:spPr>
          <a:xfrm>
            <a:off x="4099071" y="4493897"/>
            <a:ext cx="121920" cy="127992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12</a:t>
            </a:r>
            <a:endParaRPr lang="en-US" sz="500" dirty="0"/>
          </a:p>
        </p:txBody>
      </p:sp>
      <p:sp>
        <p:nvSpPr>
          <p:cNvPr id="12" name="Text 7"/>
          <p:cNvSpPr/>
          <p:nvPr/>
        </p:nvSpPr>
        <p:spPr>
          <a:xfrm>
            <a:off x="6543688" y="4096362"/>
            <a:ext cx="121920" cy="127992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24</a:t>
            </a:r>
            <a:endParaRPr lang="en-US" sz="500" dirty="0"/>
          </a:p>
        </p:txBody>
      </p:sp>
      <p:sp>
        <p:nvSpPr>
          <p:cNvPr id="13" name="Text 8"/>
          <p:cNvSpPr/>
          <p:nvPr/>
        </p:nvSpPr>
        <p:spPr>
          <a:xfrm>
            <a:off x="7935741" y="4626409"/>
            <a:ext cx="83820" cy="127992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</a:t>
            </a:r>
            <a:endParaRPr lang="en-US" sz="500" dirty="0"/>
          </a:p>
        </p:txBody>
      </p:sp>
      <p:sp>
        <p:nvSpPr>
          <p:cNvPr id="14" name="Text 9"/>
          <p:cNvSpPr/>
          <p:nvPr/>
        </p:nvSpPr>
        <p:spPr>
          <a:xfrm>
            <a:off x="10361307" y="3897594"/>
            <a:ext cx="121920" cy="127992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30</a:t>
            </a:r>
            <a:endParaRPr lang="en-US" sz="500" dirty="0"/>
          </a:p>
        </p:txBody>
      </p:sp>
      <p:sp>
        <p:nvSpPr>
          <p:cNvPr id="15" name="Text 10"/>
          <p:cNvSpPr/>
          <p:nvPr/>
        </p:nvSpPr>
        <p:spPr>
          <a:xfrm>
            <a:off x="11734312" y="2241197"/>
            <a:ext cx="121920" cy="127992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80</a:t>
            </a:r>
            <a:endParaRPr lang="en-US" sz="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719" y="2210657"/>
            <a:ext cx="2286000" cy="114300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4719" y="2210657"/>
            <a:ext cx="2286000" cy="114300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4719" y="2210657"/>
            <a:ext cx="2286000" cy="114300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4719" y="2210657"/>
            <a:ext cx="2286000" cy="114300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4719" y="2210657"/>
            <a:ext cx="2286000" cy="1143000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4719" y="2210657"/>
            <a:ext cx="2286000" cy="11430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10922" y="5437465"/>
            <a:ext cx="4251246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5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28h</a:t>
            </a:r>
            <a:endParaRPr lang="en-US" sz="5250" dirty="0"/>
          </a:p>
        </p:txBody>
      </p:sp>
      <p:sp>
        <p:nvSpPr>
          <p:cNvPr id="23" name="Text 12"/>
          <p:cNvSpPr/>
          <p:nvPr/>
        </p:nvSpPr>
        <p:spPr>
          <a:xfrm>
            <a:off x="1566982" y="6345674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Time Saved </a:t>
            </a:r>
            <a:endParaRPr lang="en-US" sz="1950" dirty="0"/>
          </a:p>
        </p:txBody>
      </p:sp>
      <p:sp>
        <p:nvSpPr>
          <p:cNvPr id="24" name="Text 13"/>
          <p:cNvSpPr/>
          <p:nvPr/>
        </p:nvSpPr>
        <p:spPr>
          <a:xfrm>
            <a:off x="5189458" y="5437465"/>
            <a:ext cx="4251365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5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€5.6K</a:t>
            </a:r>
            <a:endParaRPr lang="en-US" sz="5250" dirty="0"/>
          </a:p>
        </p:txBody>
      </p:sp>
      <p:sp>
        <p:nvSpPr>
          <p:cNvPr id="25" name="Text 14"/>
          <p:cNvSpPr/>
          <p:nvPr/>
        </p:nvSpPr>
        <p:spPr>
          <a:xfrm>
            <a:off x="6045637" y="6345674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Value Unlocked</a:t>
            </a:r>
            <a:endParaRPr lang="en-US" sz="1950" dirty="0"/>
          </a:p>
        </p:txBody>
      </p:sp>
      <p:sp>
        <p:nvSpPr>
          <p:cNvPr id="26" name="Text 15"/>
          <p:cNvSpPr/>
          <p:nvPr/>
        </p:nvSpPr>
        <p:spPr>
          <a:xfrm>
            <a:off x="9668113" y="5437465"/>
            <a:ext cx="4251365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5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€168K</a:t>
            </a:r>
            <a:endParaRPr lang="en-US" sz="5250" dirty="0"/>
          </a:p>
        </p:txBody>
      </p:sp>
      <p:sp>
        <p:nvSpPr>
          <p:cNvPr id="27" name="Text 16"/>
          <p:cNvSpPr/>
          <p:nvPr/>
        </p:nvSpPr>
        <p:spPr>
          <a:xfrm>
            <a:off x="10524292" y="6345674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Annual Impact</a:t>
            </a:r>
            <a:endParaRPr lang="en-US" sz="1950" dirty="0"/>
          </a:p>
        </p:txBody>
      </p:sp>
      <p:sp>
        <p:nvSpPr>
          <p:cNvPr id="28" name="Text 17"/>
          <p:cNvSpPr/>
          <p:nvPr/>
        </p:nvSpPr>
        <p:spPr>
          <a:xfrm>
            <a:off x="1015603" y="7072193"/>
            <a:ext cx="12903875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"This isn't cost-saving. This is revenue creation."</a:t>
            </a:r>
            <a:endParaRPr lang="en-US" sz="1550" dirty="0"/>
          </a:p>
        </p:txBody>
      </p:sp>
      <p:sp>
        <p:nvSpPr>
          <p:cNvPr id="29" name="Shape 18"/>
          <p:cNvSpPr/>
          <p:nvPr/>
        </p:nvSpPr>
        <p:spPr>
          <a:xfrm>
            <a:off x="710922" y="6867644"/>
            <a:ext cx="22860" cy="717113"/>
          </a:xfrm>
          <a:prstGeom prst="rect">
            <a:avLst/>
          </a:prstGeom>
          <a:solidFill>
            <a:srgbClr val="F2F2F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3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Limitations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55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Addressing the challenges and considerations for AI-driven bid management.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3570"/>
            <a:ext cx="6407944" cy="2047994"/>
          </a:xfrm>
          <a:prstGeom prst="roundRect">
            <a:avLst>
              <a:gd name="adj" fmla="val 2658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80084" y="3078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Cold Start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568422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New customers need to populate their knowledge base first. The first 2–3 tenders won't feel magical until the wiki has enough content.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843570"/>
            <a:ext cx="6408063" cy="2047994"/>
          </a:xfrm>
          <a:prstGeom prst="roundRect">
            <a:avLst>
              <a:gd name="adj" fmla="val 2658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14961" y="3078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Quality Ceiling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3568422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Tenderizer produces a strong first draft, not a submission-ready document. Human judgment remains essential — and that's by design.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118378"/>
            <a:ext cx="6407944" cy="2047994"/>
          </a:xfrm>
          <a:prstGeom prst="roundRect">
            <a:avLst>
              <a:gd name="adj" fmla="val 2658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0084" y="5352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Hallucination Risk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8224" y="5843230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ground generation in retrieved content and flag gaps explicitly. But zero risk doesn't exist — human review is non-negotiable.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118378"/>
            <a:ext cx="6408063" cy="2047994"/>
          </a:xfrm>
          <a:prstGeom prst="roundRect">
            <a:avLst>
              <a:gd name="adj" fmla="val 2658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4961" y="5352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Thin Early Moat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62982" y="5843230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 RAG pipeline is reproducible. Defensibility grows with each customer's knowledge base and domain-specific formatting logic.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32103"/>
            <a:ext cx="5603200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Future Scope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4384" y="1664613"/>
            <a:ext cx="1306163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roadmap that turns a drafting tool into a full strategic bid intelligence platform.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4384" y="2270046"/>
            <a:ext cx="6420088" cy="2552938"/>
          </a:xfrm>
          <a:prstGeom prst="roundRect">
            <a:avLst>
              <a:gd name="adj" fmla="val 368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079" y="2501741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F2F2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0983" y="2686526"/>
            <a:ext cx="302538" cy="3025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079" y="3395543"/>
            <a:ext cx="3775829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CRM Ecosystem Integration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16079" y="3878580"/>
            <a:ext cx="5956697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Pull live data from Salesforce and HubSpot to auto-populate requirements and track win rates natively.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5928" y="2270046"/>
            <a:ext cx="6420088" cy="2552938"/>
          </a:xfrm>
          <a:prstGeom prst="roundRect">
            <a:avLst>
              <a:gd name="adj" fmla="val 368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57624" y="2501741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F2F2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686526"/>
            <a:ext cx="302538" cy="3025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7624" y="3395543"/>
            <a:ext cx="2934533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Predictive Win Engine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57624" y="3878580"/>
            <a:ext cx="5956697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Train our AI on your historical bids to automatically score new tenders based on proven win characteristics.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84384" y="5044440"/>
            <a:ext cx="6420088" cy="2552938"/>
          </a:xfrm>
          <a:prstGeom prst="roundRect">
            <a:avLst>
              <a:gd name="adj" fmla="val 368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16079" y="5276136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F2F2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0983" y="5460921"/>
            <a:ext cx="302538" cy="3025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6079" y="6169938"/>
            <a:ext cx="449353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Cross-Border Language Support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016079" y="6652974"/>
            <a:ext cx="5956697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Instantly translate and localize bids for international markets while preserving legal and technical accuracy.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425928" y="5044440"/>
            <a:ext cx="6420088" cy="2552938"/>
          </a:xfrm>
          <a:prstGeom prst="roundRect">
            <a:avLst>
              <a:gd name="adj" fmla="val 368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57624" y="5276136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F2F2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2528" y="5460921"/>
            <a:ext cx="302538" cy="3025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7624" y="6169938"/>
            <a:ext cx="36422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Automated Pricing Models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657624" y="6652974"/>
            <a:ext cx="5956697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AI-generated competitive pricing suggestions from scope extraction, reducing financial risk on fixed-price bids.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997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Thank You.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487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Ready to turn your bid managers into strategic decision-makers? 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667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Let's unlock revenue — together.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2026-04-09T10:27:41Z</dcterms:created>
  <dcterms:modified xsi:type="dcterms:W3CDTF">2026-04-09T10:27:41Z</dcterms:modified>
</cp:coreProperties>
</file>